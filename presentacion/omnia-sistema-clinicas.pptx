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B8A6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omnia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4B8A6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19" y="2286000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297679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19" y="4297679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14B8A6"/>
                </a:solidFill>
                <a:latin typeface="Calibri"/>
              </a:rPr>
              <a:t>omnia</a:t>
            </a:r>
            <a:r>
              <a:rPr sz="1400" b="1">
                <a:solidFill>
                  <a:srgbClr val="0B1F3A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B8A6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Todos los canales en una bandeja —  y sabés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Sabés qué campaña trae pacientes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En conversación humana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Pre-reserva / 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No Asistió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Servicio Realizado (Ganado)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Perdido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Vos ves el tablero y sabés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28600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28600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Actúa en la etapa Perdido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2920" y="425196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Handoff a humano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una persona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Pausa el bot y avisa al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2920" y="425196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Recuperás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B8A6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micropigmentación, spa de uñas y cejas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4B8A6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25831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250 €/mes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1 canal (Google o Meta)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Campañas de leads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 (impl. + mensual)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0420" y="2286000"/>
            <a:ext cx="2583179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450 €/mes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Más campañas / 2 canales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Analítica de leads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 (impl. + mensual)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19" y="2286000"/>
            <a:ext cx="25831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625 €/mes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Redistribución de presupuesto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 (impl. + mensual)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5419" y="2286000"/>
            <a:ext cx="2583179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Multi-campaña / multi-sede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Reporting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 (impl. + mensual)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9320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2400E"/>
                </a:solidFill>
                <a:latin typeface="Calibri"/>
              </a:rPr>
              <a:t>Sistema omnia = implementación única + mensualidad.  Aparte: inversión en ads (mín. 300 €/camp.) 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92400E"/>
                </a:solidFill>
                <a:latin typeface="Calibri"/>
              </a:rPr>
              <a:t>+ costos de comunicación (WhatsApp, email, IA) según consumo.  Precio final al cliente: a definir (ver slides internas).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Cómo se arma y quién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no mostrar al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3596640" cy="1645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ómibu (Ads)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provee la gestión
de campañas (COSTO)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1272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2439" y="2743200"/>
            <a:ext cx="3596640" cy="1645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87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omnia (CRM)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añade el sistema
y FACTURA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0791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960" y="2743200"/>
            <a:ext cx="3596640" cy="1645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39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Cliente / Clínica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paga 1 sola
factura a omnia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Calibri"/>
              </a:rPr>
              <a:t>omnia compra los ads a ómibu (tarifas del Excel = costo), le suma su producto propio —el sistema CRM (Sofía, pipeline, reputación)— y vende el paquete completo al cliente con una sola factura.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Modelo de negocio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COSTO Y MARGEN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Estructura por nivel (a completar)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costos ómibu reales; precio al cliente y margen los define omnia.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40280"/>
            <a:ext cx="2103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240280"/>
            <a:ext cx="197510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2240280"/>
            <a:ext cx="20116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0047" y="2240280"/>
            <a:ext cx="18836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Ads (costo 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2240280"/>
            <a:ext cx="192024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40280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Sistema omnia 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240280"/>
            <a:ext cx="182880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40280"/>
            <a:ext cx="17007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Comunicación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2240280"/>
            <a:ext cx="173736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240280"/>
            <a:ext cx="160934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Precio cliente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04120" y="2240280"/>
            <a:ext cx="15544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68128" y="2240280"/>
            <a:ext cx="14264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Margen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97480"/>
            <a:ext cx="2103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697480"/>
            <a:ext cx="197510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269748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70047" y="2697480"/>
            <a:ext cx="18836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250 €/mes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2697480"/>
            <a:ext cx="19202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1728" y="2697480"/>
            <a:ext cx="1792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697480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2697480"/>
            <a:ext cx="17007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según consumo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2697480"/>
            <a:ext cx="17373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0768" y="2697480"/>
            <a:ext cx="160934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697480"/>
            <a:ext cx="15544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68128" y="2697480"/>
            <a:ext cx="14264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200400"/>
            <a:ext cx="210312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00400"/>
            <a:ext cx="197510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39" y="3200400"/>
            <a:ext cx="20116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0047" y="3200400"/>
            <a:ext cx="18836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450 €/mes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3200400"/>
            <a:ext cx="1920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3200400"/>
            <a:ext cx="1792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3200400"/>
            <a:ext cx="182880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3200400"/>
            <a:ext cx="17007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según consumo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60" y="3200400"/>
            <a:ext cx="173736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8" y="3200400"/>
            <a:ext cx="160934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3200400"/>
            <a:ext cx="15544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68128" y="3200400"/>
            <a:ext cx="14264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703320"/>
            <a:ext cx="2103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703320"/>
            <a:ext cx="197510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06039" y="370332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70047" y="3703320"/>
            <a:ext cx="18836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625 €/mes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17720" y="3703320"/>
            <a:ext cx="19202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1728" y="3703320"/>
            <a:ext cx="1792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3703320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1968" y="3703320"/>
            <a:ext cx="17007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según consumo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66760" y="3703320"/>
            <a:ext cx="17373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30768" y="3703320"/>
            <a:ext cx="160934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04120" y="3703320"/>
            <a:ext cx="15544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68128" y="3703320"/>
            <a:ext cx="14264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06240"/>
            <a:ext cx="210312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206240"/>
            <a:ext cx="197510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39" y="4206240"/>
            <a:ext cx="20116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70047" y="4206240"/>
            <a:ext cx="18836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17720" y="4206240"/>
            <a:ext cx="1920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81728" y="4206240"/>
            <a:ext cx="1792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4206240"/>
            <a:ext cx="182880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01968" y="4206240"/>
            <a:ext cx="17007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según consumo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66760" y="4206240"/>
            <a:ext cx="173736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30768" y="4206240"/>
            <a:ext cx="160934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04120" y="4206240"/>
            <a:ext cx="15544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168128" y="4206240"/>
            <a:ext cx="142646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4892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Calibri"/>
              </a:rPr>
              <a:t>+ Implementación única del sistema (one-time): [definir].   ·   Comunicación = WhatsApp + email + IA (slide siguiente).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92400E"/>
                </a:solidFill>
                <a:latin typeface="Calibri"/>
              </a:rPr>
              <a:t>Falta definir por omnia: precio del SISTEMA (implementación + mensual) y si los ads van a costo o con markup.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 / margen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COSTOS DE COMUNICACIÓN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Lo que consume el sistema (operativo)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aparte de la gestión de ads y de la inversión publicitaria. Definir montos y si se incluyen en la mensualidad o se facturan por uso.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353568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Licencia WhatsApp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37560"/>
            <a:ext cx="3169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Meta cobra por conversación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(utility / marketing)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posible fee de plataforma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Monto: [definir]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23160"/>
            <a:ext cx="353568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2316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697479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Correos electrónicos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37560"/>
            <a:ext cx="3169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Costo por envío / volumen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Boletines + automatizaciones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Monto: [definir]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23160"/>
            <a:ext cx="353568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2316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697479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Tokens de IA (Sofía)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37560"/>
            <a:ext cx="3169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DECIDIR el modelo: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☐ Ilimitada (cuota fija)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☐ Por consumo (por mensaje)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Monto: [definir]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578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Calibri"/>
              </a:rPr>
              <a:t>Recomendado: incluir un 'fee de comunicación' fijo en la mensualidad y avisar que el consumo alto se factura aparte.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Costos de comunicación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B8A6"/>
                </a:solidFill>
                <a:latin typeface="Calibri"/>
              </a:rPr>
              <a:t>EN 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español, adaptable 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Templatizado: nuevo cliente en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B8A6"/>
                </a:solidFill>
                <a:latin typeface="Calibri"/>
              </a:rPr>
              <a:t>omnia  ·  [web / contacto]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