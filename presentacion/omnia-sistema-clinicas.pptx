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GUÍA PARA EQUIPO Y CLIENTE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omnia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Sistema Ads + CRM para Clínicas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Odontología · Estética · Medicina estética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Convertimos anuncios en pacientes —  y pacientes en reseñas de 5★.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paciente escribe… y se pierde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hoy le pasa a casi toda clínica que invierte en publicidad.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54406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Nadie contesta a tiempo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El lead escribe a las 22:00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Le responden al otro día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Ya agendó en otra clínica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19" y="2286000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19" y="2286000"/>
            <a:ext cx="54406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799" y="2560320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Todo disperso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799" y="3200400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Mensajes que se traspapelan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No se sabe de qué anuncio vino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4297679"/>
            <a:ext cx="54406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Agenda con huecos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Citas sin recordatorio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Ausencias y cancelaciones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seguimiento al que no agendó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19" y="4297679"/>
            <a:ext cx="5440679" cy="17373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19" y="4297679"/>
            <a:ext cx="54406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799" y="4571999"/>
            <a:ext cx="5074919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al azar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799" y="5212079"/>
            <a:ext cx="5074919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Pocas reseñas en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Las malas sí se publican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pedirlas de forma sistemática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El problema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LA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No es una herramienta. Es un SISTEMA.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Anuncios que traen pacientes + un CRM que los atiende y fideliza —  todo conectado.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1 · Captar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en Google/Meta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Atiende WhatsApp/IG/FB 24/7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2 · Convertir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IA reserva la cita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 solo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1031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3 · Fidelizar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Recordatorios automáticos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Reseñas Google de 5★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11556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→ Ads + CRM en un solo sistema. Una sola factura, un solo responsable: </a:t>
            </a:r>
            <a:r>
              <a:rPr sz="1400" b="1">
                <a:solidFill>
                  <a:srgbClr val="9A3CE0"/>
                </a:solidFill>
                <a:latin typeface="Calibri"/>
              </a:rPr>
              <a:t>omnia</a:t>
            </a:r>
            <a:r>
              <a:rPr sz="1400" b="1">
                <a:solidFill>
                  <a:srgbClr val="14102B"/>
                </a:solidFill>
                <a:latin typeface="Calibri"/>
              </a:rPr>
              <a:t>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La solución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CÓMO FUNCIONA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recorrido del paciente, en piloto automático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De un clic en el anuncio a una reseña de 5★ —  sin que nadie mueva un dedo.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Anuncio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/ Meta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9151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39267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8411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Mensaje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WA/IG/FB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8127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243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7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Sofía (IA)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atiende y califica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7103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199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3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Agenda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reserva la cita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0791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6196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53399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Recordatorios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24h antes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50552" y="2743200"/>
            <a:ext cx="219456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51720" y="2743200"/>
            <a:ext cx="1706879" cy="15544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3160" y="2871216"/>
            <a:ext cx="1523999" cy="1316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Reseña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Google 5★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93776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9A3CE0"/>
                </a:solidFill>
                <a:latin typeface="Calibri"/>
              </a:rPr>
              <a:t>Resultado: el lead deja sus datos → la IA lo atiende → agenda solo → asiste → deja reseña → vuelve.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Cómo funciona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ASISTENTE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Sofía: la recepcionista que no duerme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Atiende cada mensaje al instante, en el tono de la clínica, y reserva citas sola.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Atiende 24/7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Responde en segundos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Sin sueldo ni descansos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tono de la marca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Reserva citas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Ofrece día y hora libres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Agenda en el calendario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datos con RGPD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Sabe cuándo parar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humano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Comprobantes, dudas médicas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Nunca inventa precios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Asistente IA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CAPTACIÓN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Todos los canales en una bandeja —  y sabes de dónde vino cada lead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Multicanal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WhatsApp, Instagram, Facebook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Una conversación por paciente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Nada se traspapela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Atribución de ads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Guarda UTM y el anuncio (Ad)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Sabes qué campaña trae pacientes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22920" y="2468880"/>
            <a:ext cx="353568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Canal detectado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05800" y="3383280"/>
            <a:ext cx="3169920" cy="1325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Etiqueta canal-wa/ig/fb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el teléfono solo si hace falta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Listo para remarketing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Captación multicanal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PIPELINE DE VENTAS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Ves en qué punto está cada paciente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oportunidad avanza por etapas claras —  como una operación con fases.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Nuevo Lead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1546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22714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14154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En conversación humana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41340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42508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33948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Pre-reserva / Cita Reservada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61134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362302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53742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Cita Confirmada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80929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982097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73537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No Asistió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0723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01891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93331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Servicio Realizado (Ganado)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20517" y="2926080"/>
            <a:ext cx="219456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21685" y="2926080"/>
            <a:ext cx="1436914" cy="12801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3125" y="3054096"/>
            <a:ext cx="1254034" cy="104241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Perdido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754880"/>
            <a:ext cx="111556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64748B"/>
                </a:solidFill>
                <a:latin typeface="Calibri"/>
              </a:rPr>
              <a:t>Los robots mueven al paciente de etapa automáticamente. Ves el panel y sabes qué falta para cada cierre.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Pipeline de ventas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AUTOMATIZACIONES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9 robots que trabajan solos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Configurados y listos. Cada uno hace una tarea sin que nadie la recuerde.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Bienvenida +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Activa a Sofía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Crea la oportunidad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28600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Cita reservada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Confirma por WhatsApp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Mueve el pipeline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28600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28600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56032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Recordatorio 24h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2004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Reduce ausencias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Mensaje automático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425196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Remarketing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Actúa en la etapa Perdido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Recupera al que no agendó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2 toques en 48h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1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312920" y="425196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9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Handoff a humano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9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Deriva a una persona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Pausa el bot y avisa al equipo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2920" y="4251960"/>
            <a:ext cx="3535680" cy="16916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22920" y="425196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5800" y="452628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Reputación Google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5800" y="516636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Pide reseña tras el servicio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Filtra 4-5★ → Google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Automatizaciones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REPUTACIÓN GOOGLE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Más reseñas de 5★ —  y las malas, en privado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diferenciador: pide valoración tras cada servicio y filtra antes de Google.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4–5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va directo a Google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Más reputación pública, más pacientes nuevos.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237744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743200"/>
            <a:ext cx="4937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4102B"/>
                </a:solidFill>
                <a:latin typeface="Calibri"/>
              </a:rPr>
              <a:t>⭐ 1–3 estrellas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→ formulario privado (NO a Google)</a:t>
            </a:r>
          </a:p>
          <a:p>
            <a:pPr algn="l">
              <a:spcAft>
                <a:spcPts val="800"/>
              </a:spcAft>
            </a:pPr>
            <a:r>
              <a:rPr sz="1200" b="0">
                <a:solidFill>
                  <a:srgbClr val="64748B"/>
                </a:solidFill>
                <a:latin typeface="Calibri"/>
              </a:rPr>
              <a:t>Recuperas al paciente y proteges la marca.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512064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1">
                <a:solidFill>
                  <a:srgbClr val="9A3CE0"/>
                </a:solidFill>
                <a:latin typeface="Calibri"/>
              </a:rPr>
              <a:t>También reactiva tu base de datos antigua para traer pacientes que ya tenías.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Reputación Google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09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ADAPTABLE POR NICHO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El mismo sistema, ajustado a cada clínica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Cambia el catálogo, el tono y si se pide señal. La estrategia es la misma.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Odontología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Limpieza, ortodoncia, blanqueamiento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cercano y claro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normalmente 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Estética / Belleza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Faciales, micropigmentación, spa de uñas y cejas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cálido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Señal: habitual (sí)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Medicina estética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Ácido, bótox, tratamientos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Tono profesional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Dudas clínicas → a humano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Por nicho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INSTALACIÓN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Templatizado: solo cambian 3–4 cosas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El sistema completo ya está montado. Personalizar un cliente toma horas, no semanas.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Se personaliza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Logo y colores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Datos del negocio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Servicios y precios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¿Pide señal? sí/no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6888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Ya viene hecho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Bot, pipeline y etapas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Los 9 workflows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Reputación Google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Plantillas de mensajes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68880"/>
            <a:ext cx="3535680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68880"/>
            <a:ext cx="3535680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743200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Cómo se llena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83280"/>
            <a:ext cx="31699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Custom Values (1 vez)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Todo lo lee el sistema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Mismo snapshot para todos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Onboarding por formulario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Instalación templatizada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EL CAMBIO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Antes vs. Después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Lo que ve el dueño de la clínica cuando enciende el sistema.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68880"/>
            <a:ext cx="5394960" cy="128016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64748B"/>
                </a:solidFill>
                <a:latin typeface="Calibri"/>
              </a:rPr>
              <a:t>ANTES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Leads que escriben y nadie contesta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Agenda con huecos y ausencias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Mensajes perdidos entre apps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Pocas reseñas, y las malas públicas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—  Sin saber qué anuncio funciona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468880"/>
            <a:ext cx="5394960" cy="31089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468880"/>
            <a:ext cx="5394960" cy="128016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2743200"/>
            <a:ext cx="493776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9A3CE0"/>
                </a:solidFill>
                <a:latin typeface="Calibri"/>
              </a:rPr>
              <a:t>DESPUÉS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Cada lead atendido en segundos, 24/7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Agenda llena, con recordatorios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Todo en una bandeja, nada se pierde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Flujo constante de reseñas 5★</a:t>
            </a:r>
          </a:p>
          <a:p>
            <a:pPr algn="l">
              <a:spcAft>
                <a:spcPts val="800"/>
              </a:spcAft>
            </a:pPr>
            <a:r>
              <a:rPr sz="1250" b="0">
                <a:solidFill>
                  <a:srgbClr val="0F172A"/>
                </a:solidFill>
                <a:latin typeface="Calibri"/>
              </a:rPr>
              <a:t>✓  Retorno medible por campaña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Antes vs Después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PLANES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Cuatro niveles —  el anuncio trae, el sistema convierte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Cada plan = gestión de ads (Google/Meta) + el sistema CRM omnia completo.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286000"/>
            <a:ext cx="25831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Captación · 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547 €/mes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1 canal (Google o Meta)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Campañas de leads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0420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0420" y="2286000"/>
            <a:ext cx="2583179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3300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Crecimiento ·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3300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827 €/mes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Ads 2 canales + analítica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Más campañas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19" y="2286000"/>
            <a:ext cx="2583179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7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Pro · 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7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1.072 €/mes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Gestión avanzada + redistribución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Reporting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75419" y="2286000"/>
            <a:ext cx="2583179" cy="246888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75419" y="2286000"/>
            <a:ext cx="2583179" cy="118872"/>
          </a:xfrm>
          <a:prstGeom prst="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58299" y="2560320"/>
            <a:ext cx="22174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Escala ·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58299" y="3200400"/>
            <a:ext cx="221742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Multi-campaña / multi-sede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Sistema omnia incluido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A medida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892040"/>
            <a:ext cx="11155680" cy="777240"/>
          </a:xfrm>
          <a:prstGeom prst="roundRect">
            <a:avLst/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956048"/>
            <a:ext cx="1078992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 290 € · sistema 197 €/mes (ya incluido en el plan).  A medida costaría 5.683 $ (cotizador): con omnia, productizado.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Aparte: inversión publicitaria (desde 300 €/camp.) + comunicación (WhatsApp/email/IA) según consumo.  Precios propuestos (+IVA), a validar.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omnia  ·  Planes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MODELO DE NEGOCIO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Cómo se arma y quién factura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no mostrar al cliente.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ómibu (Ads)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provee la gestión
de campañas (COSTO)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1272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2439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7387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omnia (CRM)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añade el sistema
y FACTURA todo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0791" y="2743200"/>
            <a:ext cx="219456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9A3CE0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1960" y="2743200"/>
            <a:ext cx="3596640" cy="164592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53399" y="2871216"/>
            <a:ext cx="3413759" cy="14081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50" b="1">
                <a:solidFill>
                  <a:srgbClr val="14102B"/>
                </a:solidFill>
                <a:latin typeface="Calibri"/>
              </a:rPr>
              <a:t>Cliente / Clínica</a:t>
            </a:r>
          </a:p>
          <a:p>
            <a:pPr algn="ctr">
              <a:spcAft>
                <a:spcPts val="400"/>
              </a:spcAft>
            </a:pPr>
            <a:r>
              <a:rPr sz="1000" b="0">
                <a:solidFill>
                  <a:srgbClr val="64748B"/>
                </a:solidFill>
                <a:latin typeface="Calibri"/>
              </a:rPr>
              <a:t>paga 1 sola
factura a omnia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846320"/>
            <a:ext cx="111556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50" b="0">
                <a:solidFill>
                  <a:srgbClr val="0F172A"/>
                </a:solidFill>
                <a:latin typeface="Calibri"/>
              </a:rPr>
              <a:t>omnia compra los ads a ómibu (tarifas del Excel = costo), le suma su producto propio —el sistema CRM (Sofía, pipeline, reputación)— y vende el paquete completo al cliente con una sola factura.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Modelo de negocio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COSTO Y MARGEN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Estructura por nivel (propuesta)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costos ómibu reales + precios producto propuestos. Validar.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2240280"/>
            <a:ext cx="178308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57784" y="2240280"/>
            <a:ext cx="16733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Nivel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0" y="2240280"/>
            <a:ext cx="1874519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340864" y="2240280"/>
            <a:ext cx="176479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Costo ads (ómibu)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2240280"/>
            <a:ext cx="169164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15383" y="22402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Precio ads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0" y="2240280"/>
            <a:ext cx="169164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07024" y="22402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Sistema /mes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543800" y="2240280"/>
            <a:ext cx="205740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98664" y="2240280"/>
            <a:ext cx="19476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Total cliente /mes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2240280"/>
            <a:ext cx="2011680" cy="457200"/>
          </a:xfrm>
          <a:prstGeom prst="rect">
            <a:avLst/>
          </a:prstGeom>
          <a:solidFill>
            <a:srgbClr val="1410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56064" y="2240280"/>
            <a:ext cx="19019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Margen ads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97480"/>
            <a:ext cx="1783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7784" y="2697480"/>
            <a:ext cx="16733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Captación · Z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86000" y="2697480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40864" y="2697480"/>
            <a:ext cx="176479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250 €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2697480"/>
            <a:ext cx="1691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15383" y="26974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350 €/mes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52160" y="2697480"/>
            <a:ext cx="1691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07024" y="26974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43800" y="26974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98664" y="2697480"/>
            <a:ext cx="19476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547 €/mes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01200" y="26974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56064" y="2697480"/>
            <a:ext cx="19019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100 €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154680"/>
            <a:ext cx="178308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7784" y="3154680"/>
            <a:ext cx="16733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Crecimiento · 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86000" y="3154680"/>
            <a:ext cx="1874519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40864" y="3154680"/>
            <a:ext cx="176479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450 €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60520" y="3154680"/>
            <a:ext cx="169164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15383" y="31546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630 €/mes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52160" y="3154680"/>
            <a:ext cx="169164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07024" y="31546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43800" y="3154680"/>
            <a:ext cx="205740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98664" y="3154680"/>
            <a:ext cx="19476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827 €/mes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3154680"/>
            <a:ext cx="201168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56064" y="3154680"/>
            <a:ext cx="19019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180 €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611880"/>
            <a:ext cx="17830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7784" y="3611880"/>
            <a:ext cx="16733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Pro · 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86000" y="3611880"/>
            <a:ext cx="1874519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40864" y="3611880"/>
            <a:ext cx="176479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625 €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160520" y="3611880"/>
            <a:ext cx="1691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15383" y="36118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875 €/mes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52160" y="3611880"/>
            <a:ext cx="169164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907024" y="36118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543800" y="3611880"/>
            <a:ext cx="205740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598664" y="3611880"/>
            <a:ext cx="19476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1.072 €/mes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601200" y="3611880"/>
            <a:ext cx="2011680" cy="457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56064" y="3611880"/>
            <a:ext cx="19019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250 €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069080"/>
            <a:ext cx="178308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57784" y="4069080"/>
            <a:ext cx="16733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Escala · 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286000" y="4069080"/>
            <a:ext cx="1874519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40864" y="4069080"/>
            <a:ext cx="1764791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160520" y="4069080"/>
            <a:ext cx="169164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15383" y="40690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52160" y="4069080"/>
            <a:ext cx="169164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907024" y="4069080"/>
            <a:ext cx="158191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197 €/mes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543800" y="4069080"/>
            <a:ext cx="205740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598664" y="4069080"/>
            <a:ext cx="194767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a medida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601200" y="4069080"/>
            <a:ext cx="2011680" cy="457200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656064" y="4069080"/>
            <a:ext cx="1901952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0F172A"/>
                </a:solidFill>
                <a:latin typeface="Calibri"/>
              </a:rPr>
              <a:t>—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2920" y="4526280"/>
            <a:ext cx="1115568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050" b="1">
                <a:solidFill>
                  <a:srgbClr val="92400E"/>
                </a:solidFill>
                <a:latin typeface="Calibri"/>
              </a:rPr>
              <a:t>Activación única: 290 € (margen alto: el snapshot es templatizado).   ·   Sistema 197 €/mes = plataforma + IA + soporte.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92400E"/>
                </a:solidFill>
                <a:latin typeface="Calibri"/>
              </a:rPr>
              <a:t>Ancla de valor: a medida = 5.683 $ (cotizador).   ·   Comunicación (WhatsApp/email/IA) según consumo.   ·   PROPUESTA — validar y unificar moneda.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 / margen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02920" y="548640"/>
            <a:ext cx="292608" cy="292608"/>
          </a:xfrm>
          <a:prstGeom prst="roundRect">
            <a:avLst/>
          </a:prstGeom>
          <a:solidFill>
            <a:srgbClr val="9A3C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5720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9A3CE0"/>
                </a:solidFill>
                <a:latin typeface="Calibri"/>
              </a:rPr>
              <a:t>COSTOS DE COMUNICACIÓN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868680"/>
            <a:ext cx="111556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900" b="1">
                <a:solidFill>
                  <a:srgbClr val="14102B"/>
                </a:solidFill>
                <a:latin typeface="Calibri"/>
              </a:rPr>
              <a:t>Lo que consume el sistema (operativo)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64748B"/>
                </a:solidFill>
                <a:latin typeface="Calibri"/>
              </a:rPr>
              <a:t>Uso interno —  aparte de la gestión de ads y de la inversión publicitaria. Definir montos y si se incluyen en la mensualidad o se facturan por uso.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423160"/>
            <a:ext cx="3535680" cy="26517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242316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Licencia WhatsApp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Meta cobra por conversación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(utility / marketing)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+ posible fee de plataforma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2920" y="2423160"/>
            <a:ext cx="3535680" cy="26517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12920" y="242316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Correos electrónicos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9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Costo por envío / volumen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Boletines + automatizaciones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2920" y="2423160"/>
            <a:ext cx="3535680" cy="2651760"/>
          </a:xfrm>
          <a:prstGeom prst="round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22920" y="2423160"/>
            <a:ext cx="3535680" cy="118872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05800" y="2697479"/>
            <a:ext cx="31699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14102B"/>
                </a:solidFill>
                <a:latin typeface="Calibri"/>
              </a:rPr>
              <a:t>Tokens de IA (Sofía)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5800" y="3337560"/>
            <a:ext cx="316992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DECIDIR el modelo: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☐ Ilimitada (cuota fija)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☐ Por consumo (por mensaje)</a:t>
            </a:r>
          </a:p>
          <a:p>
            <a:pPr algn="l">
              <a:spcAft>
                <a:spcPts val="500"/>
              </a:spcAft>
            </a:pPr>
            <a:r>
              <a:rPr sz="1100" b="0">
                <a:solidFill>
                  <a:srgbClr val="0F172A"/>
                </a:solidFill>
                <a:latin typeface="Calibri"/>
              </a:rPr>
              <a:t>•  Monto: [definir]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5257800"/>
            <a:ext cx="11155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92400E"/>
                </a:solidFill>
                <a:latin typeface="Calibri"/>
              </a:rPr>
              <a:t>Recomendado: incluir un 'fee de comunicación' fijo en la mensualidad y avisar que el consumo alto se factura aparte.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6327648"/>
            <a:ext cx="11155680" cy="10972"/>
          </a:xfrm>
          <a:prstGeom prst="rect">
            <a:avLst/>
          </a:prstGeom>
          <a:solidFill>
            <a:srgbClr val="F3F1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364224"/>
            <a:ext cx="8229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1">
                <a:solidFill>
                  <a:srgbClr val="92400E"/>
                </a:solidFill>
                <a:latin typeface="Calibri"/>
              </a:rPr>
              <a:t>omnia  ·  USO INTERNO · Costos de comunicación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6364224"/>
            <a:ext cx="162763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4748B"/>
                </a:solidFill>
                <a:latin typeface="Calibri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4F46E5"/>
              </a:gs>
              <a:gs pos="100000">
                <a:srgbClr val="EC4899"/>
              </a:gs>
            </a:gsLst>
            <a:lin scaled="0" ang="19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920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EN RESUMEN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Un sistema que capta, atiende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libri"/>
              </a:rPr>
              <a:t>y fideliza —  con una sola factura.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Ads (Google/Meta) + CRM en un solo sistema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En español de España, para odontología, estética y medicina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✓  Templatizado y masivo: nuevo cliente en horas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7607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omnia  ·  omniainbusiness.com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