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EC489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6974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mn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896112"/>
            <a:ext cx="2011298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14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GUÍA PARA EQUIPO Y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Sistema Ads + CRM para Clínicas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Odontología · Estética · Medicina estética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Convertimos anuncios en pacientes —  y pacientes en reseñas de 5★.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El paciente escribe… y se pierde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Lo que hoy le pasa a casi toda clínica que invierte en publicidad.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440679" cy="17373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52943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0749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Nadie contesta a tiempo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50749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El lead escribe a las 22:00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Le responden al otro día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Ya agendó en otra clínica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9" y="2286000"/>
            <a:ext cx="5440679" cy="17373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91071" y="2359152"/>
            <a:ext cx="52943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799" y="2560320"/>
            <a:ext cx="50749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Todo disperso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799" y="3200400"/>
            <a:ext cx="50749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WhatsApp, Instagram, Facebook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Mensajes que se traspapelan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No se sabe de qué anuncio vino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79"/>
            <a:ext cx="5440679" cy="17373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" y="4370831"/>
            <a:ext cx="52943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71999"/>
            <a:ext cx="50749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Agenda con huecos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79"/>
            <a:ext cx="50749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Citas sin recordatorio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Ausencias y cancelaciones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Sin seguimiento al que no agendó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19" y="4297679"/>
            <a:ext cx="5440679" cy="17373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1" y="4370831"/>
            <a:ext cx="52943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4571999"/>
            <a:ext cx="50749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Reputación al 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5212079"/>
            <a:ext cx="507491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Pocas reseñas en Google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Las malas sí se publican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Sin pedirlas de forma sistemática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El problema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No es una herramienta. Es un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Anuncios que traen pacientes + un CRM que los atiende y fideliza —  todo conectado.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103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1 · Captar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6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Ads en Google/Meta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Atiende WhatsApp/IG/FB 24/7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103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2 · Convertir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383280"/>
            <a:ext cx="316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IA reserva la cita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Mueve el pipeline solo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103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3 · Fidelizar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383280"/>
            <a:ext cx="3169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Recordatorios automáticos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Reseñas Google de 5★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→ Ads + CRM en un solo sistema. Una sola factura, un solo responsable: </a:t>
            </a:r>
            <a:r>
              <a:rPr sz="1400" b="1">
                <a:solidFill>
                  <a:srgbClr val="9A3CE0"/>
                </a:solidFill>
                <a:latin typeface="Calibri"/>
              </a:rPr>
              <a:t>omnia</a:t>
            </a:r>
            <a:r>
              <a:rPr sz="1400" b="1">
                <a:solidFill>
                  <a:srgbClr val="14102B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El recorrido del paciente, en piloto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De un clic en el anuncio a una reseña de 5★ —  sin que nadie mueva un dedo.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Anuncio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Google /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1512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79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4119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Mensaje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WA/IG/FB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127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3879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Sofía (IA)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atiende y califica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39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Agenda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reserva la cita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079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399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Recordatorios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24h 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0552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1720" y="2743200"/>
            <a:ext cx="1706879" cy="15544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3160" y="2871216"/>
            <a:ext cx="1523999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Reseña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Google 5★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9A3CE0"/>
                </a:solidFill>
                <a:latin typeface="Calibri"/>
              </a:rPr>
              <a:t>Resultado: el lead deja sus datos → la IA lo atiende → agenda solo → asiste → deja reseña → vuelve.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Cómo funciona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EL ASISTENTE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Sofía: la recepcionista que no duerme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Atiende cada mensaje al instante, en el tono de la clínica, y reserva citas sola.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Atiende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Responde en segundos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Sin sueldo ni descansos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Mismo tono de la marca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Reserva citas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Ofrece día y hora libres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Agenda en el calendario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Pide datos con RGPD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Sabe cuándo 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Deriva a humano si hace falta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Comprobantes, dudas médicas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Nunca inventa precios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Asistente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CAPTACIÓN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Todos los canales en una bandeja —  y sabes de dónde vino cada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Multicanal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WhatsApp, Instagram, Facebook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Una conversación por paciente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Nada se traspapela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Atribución de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Guarda UTM y el anuncio (Ad)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Sabes qué campaña trae pacientes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2468880"/>
            <a:ext cx="353568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Canal detectado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383280"/>
            <a:ext cx="316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Etiqueta canal-wa/ig/fb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Pide el teléfono solo si hace falta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Listo para remarketing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Captación multicanal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PIPELINE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Ves en qué punto está cada paciente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Cada oportunidad avanza por etapas claras —  como una operación con fases.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Nuevo Lead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1546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2714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4154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En conversación humana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340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2508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3948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Pre-reserva / Cita Reservada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1134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2302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3742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Cita Confirmada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929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2097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3537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No Asistió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723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1891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93331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Servicio Realizado (Ganado)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0517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9A3CE0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21685" y="2926080"/>
            <a:ext cx="1436914" cy="12801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13125" y="3054096"/>
            <a:ext cx="1254034" cy="1042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4102B"/>
                </a:solidFill>
                <a:latin typeface="Calibri"/>
              </a:rPr>
              <a:t>Perdido</a:t>
            </a:r>
          </a:p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548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Los robots mueven al paciente de etapa automáticamente. Ves el panel y sabes qué falta para cada cierre.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Pipeline de ventas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AUTOMATIZACIONES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9 robots que trabajan solos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Configurados y listos. Cada uno hace una tarea sin que nadie la recuerde.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Bienvenida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Activa a Sofía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Crea la oportunidad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28600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235915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56032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Cita reservada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2004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Confirma por WhatsApp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Mueve el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28600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6072" y="235915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56032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Recordatorio 24h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2004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Reduce ausencias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Mensaje automático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5196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432511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2628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Remarketing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16636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Actúa en la etapa Perdido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Recupera al que no agendó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2 toques en 48h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2920" y="425196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6072" y="432511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5800" y="452628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Handoff a humano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800" y="516636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Deriva a una persona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Pausa el bot y avisa al equipo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2920" y="4251960"/>
            <a:ext cx="3535680" cy="16916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96072" y="432511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5800" y="452628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Reputación Google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800" y="516636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Pide reseña tras el servicio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Filtra 4-5★ → Google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Automatizaciones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REPUTACIÓN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Más reseñas de 5★ —  y las malas, en privado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diferenciador: pide valoración tras cada servicio y filtra antes de Google.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539496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5394960" cy="128016"/>
          </a:xfrm>
          <a:prstGeom prst="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102B"/>
                </a:solidFill>
                <a:latin typeface="Calibri"/>
              </a:rPr>
              <a:t>⭐ 4–5 estrellas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→ va directo a Google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Más reputación pública, más pacientes nuevos.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2377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68880"/>
            <a:ext cx="5394960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4102B"/>
                </a:solidFill>
                <a:latin typeface="Calibri"/>
              </a:rPr>
              <a:t>⭐ 1–3 estrellas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→ formulario privado (NO a Google)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Recuperas al paciente y proteges la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9A3CE0"/>
                </a:solidFill>
                <a:latin typeface="Calibri"/>
              </a:rPr>
              <a:t>También reactiva tu base de datos antigua para traer pacientes que ya tenías.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Reputación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ADAPTABLE POR NICHO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El mismo sistema, ajustado a cada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Cambia el catálogo, el tono y si se pide señal. La estrategia es la misma.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Odontología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Limpieza, ortodoncia, blanqueamiento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Tono cercano y claro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Señal: normalmente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Estética / Belleza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Faciales, micropigmentación, spa de uñas y cejas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Tono cálido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Señal: habitual (sí)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Medicina estética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Ácido, bótox, tratamientos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Tono profesional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Dudas clínicas → a humano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Por nicho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INSTALACIÓN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Templatizado: solo cambian 3–4 cosas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sistema completo ya está montado. Personalizar un cliente toma horas, no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Se personaliza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Logo y colores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Datos del negocio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Servicios y precios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¿Pide señal? sí/no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6072" y="2542032"/>
            <a:ext cx="338937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Ya viene hecho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Bot, pipeline y etapas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Los 9 workflows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Reputación Google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Plantillas de mensajes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6072" y="2542032"/>
            <a:ext cx="338937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800" y="2743200"/>
            <a:ext cx="316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Cómo se llena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383280"/>
            <a:ext cx="316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Custom Values (1 vez)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Todo lo lee el sistema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Mismo snapshot para todos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Onboarding por formulario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Instalación templatizada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EL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Antes vs.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Lo que ve el dueño de la clínica cuando enciende el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5394960" cy="31089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5394960" cy="12801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ANTES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Leads que escriben y nadie contesta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Agenda con huecos y ausencias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Mensajes perdidos entre apps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Pocas reseñas, y las malas públicas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Sin saber qué anuncio funciona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31089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68880"/>
            <a:ext cx="5394960" cy="128016"/>
          </a:xfrm>
          <a:prstGeom prst="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9A3CE0"/>
                </a:solidFill>
                <a:latin typeface="Calibri"/>
              </a:rPr>
              <a:t>DESPUÉS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Cada lead atendido en segundos, 24/7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Agenda llena, con recordatorios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Todo en una bandeja, nada se pierde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Flujo constante de reseñas 5★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Retorno medible por campaña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Antes vs Después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PLANES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Cuatro niveles —  el anuncio trae, el sistema convierte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Cada plan = gestión de ads (Google/Meta) + el sistema CRM omnia completo.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583179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24368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2174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Captación · 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22174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447 €/mes  todo incluido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= 197 € sistema + 250 € ads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Activación única: 290 €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Ads 1 canal (Google/Meta)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0420" y="2286000"/>
            <a:ext cx="2583179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3572" y="2359152"/>
            <a:ext cx="2436875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3300" y="2560320"/>
            <a:ext cx="22174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Crecimiento ·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3200400"/>
            <a:ext cx="22174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647 €/mes  todo incluido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= 197 € sistema + 450 € ads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Activación única: 290 €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Ads 2 canales + analítica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2286000"/>
            <a:ext cx="2583179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1" y="2359152"/>
            <a:ext cx="2436875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2560320"/>
            <a:ext cx="22174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Pro ·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3200400"/>
            <a:ext cx="22174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822 €/mes  todo incluido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= 197 € sistema + 625 € ads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Activación única: 290 €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Gestión avanzada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419" y="2286000"/>
            <a:ext cx="2583179" cy="2468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8572" y="2359152"/>
            <a:ext cx="2436875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299" y="2560320"/>
            <a:ext cx="22174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Escala ·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299" y="3200400"/>
            <a:ext cx="22174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 medida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= 197 € sistema + ads a medida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Activación única: 290 €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•  Multi-sede / multi-campaña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92040"/>
            <a:ext cx="11155680" cy="77724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56048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Activación única 290 € · sistema 197 €/mes (ya incluido en el plan).  A medida costaría 5.683 $ (cotizador): con omnia, productizado.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92400E"/>
                </a:solidFill>
                <a:latin typeface="Calibri"/>
              </a:rPr>
              <a:t>Aparte: inversión publicitaria (desde 300 €/camp.) + comunicación (WhatsApp/email/IA) según consumo.  Precios propuestos (+IVA), a validar.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Planes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CÓMO SE PAGA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Fácil: un pago al empezar y luego una cuota fija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Ejemplo con el plan Captación. Funciona igual en todos los planes.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394960" cy="22402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72" y="2359152"/>
            <a:ext cx="5248656" cy="82296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9A3CE0"/>
                </a:solidFill>
                <a:latin typeface="Calibri"/>
              </a:rPr>
              <a:t>EL PRIMER MES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290 €  activación (una sola vez)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4102B"/>
                </a:solidFill>
                <a:latin typeface="Calibri"/>
              </a:rPr>
              <a:t>+ 447 €  primera mensualidad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= 737 €  total para arrancar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86000"/>
            <a:ext cx="5394960" cy="22402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6792" y="2359152"/>
            <a:ext cx="5248656" cy="82296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60604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DEL MES 2 EN ADELANTE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4102B"/>
                </a:solidFill>
                <a:latin typeface="Calibri"/>
              </a:rPr>
              <a:t>447 € / mes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= 197 € sistema omnia + 250 € ads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La activación NO se vuelve a pagar.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00600"/>
            <a:ext cx="11155680" cy="9601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901184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2400E"/>
                </a:solidFill>
                <a:latin typeface="Calibri"/>
              </a:rPr>
              <a:t>Aparte (lo pagas a Google/Meta y proveedores, NO a omnia):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92400E"/>
                </a:solidFill>
                <a:latin typeface="Calibri"/>
              </a:rPr>
              <a:t>tu inversión en anuncios (desde 300 €) + consumos del sistema (WhatsApp, IA, correos…).  Cifras + 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Cómo se paga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ECONOMÍA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Por nivel (propuesta para dirección)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Uso interno —  precio al cliente, ingreso recurrente de omnia y ancla de valor.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2377440" cy="50292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Nivel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286000"/>
            <a:ext cx="3108960" cy="50292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286000"/>
            <a:ext cx="2926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Ads (precio cliente = ómibu)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286000"/>
            <a:ext cx="2743200" cy="50292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2860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Sistema omnia /mes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2286000"/>
            <a:ext cx="2926080" cy="50292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28600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Total cliente /mes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Captación · 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78892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788920"/>
            <a:ext cx="2926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250 €/mes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78892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7889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197 €/mes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78892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8892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447 €/mes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91839"/>
            <a:ext cx="237744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91839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Crecimiento ·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3291839"/>
            <a:ext cx="310896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291839"/>
            <a:ext cx="2926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450 €/mes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291839"/>
            <a:ext cx="274320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291839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197 €/mes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3291839"/>
            <a:ext cx="292608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91839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647 €/mes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947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9476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Pro · 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379476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3794760"/>
            <a:ext cx="2926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625 €/mes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794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79476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197 €/mes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379476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7947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822 €/mes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97680"/>
            <a:ext cx="237744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429768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Escala · 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4297680"/>
            <a:ext cx="310896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4297680"/>
            <a:ext cx="29260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a medida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4297680"/>
            <a:ext cx="274320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29768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197 €/mes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4297680"/>
            <a:ext cx="2926080" cy="50292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23960" y="42976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a medida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92400E"/>
                </a:solidFill>
                <a:latin typeface="Calibri"/>
              </a:rPr>
              <a:t>Activación única: 290 €  ·  Ingreso recurrente omnia = sistema 197 €/mes (producto propio).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92400E"/>
                </a:solidFill>
                <a:latin typeface="Calibri"/>
              </a:rPr>
              <a:t>Ads: precio cliente = tarifa ómibu; omnia recibe descuento interno de ómibu (margen EN DISCUSIÓN).  Ancla de valor: a medida 5.683 $.  PROPUESTA.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92400E"/>
                </a:solidFill>
                <a:latin typeface="Calibri"/>
              </a:rPr>
              <a:t>omnia  ·  USO INTERNO · Economía del modelo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9A3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A3CE0"/>
                </a:solidFill>
                <a:latin typeface="Calibri"/>
              </a:rPr>
              <a:t>CONSUMOS DE TERCEROS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4102B"/>
                </a:solidFill>
                <a:latin typeface="Calibri"/>
              </a:rPr>
              <a:t>Costes operativos estimados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Servicios externos que se pagan según uso, aparte de la cuota de omnia. El cliente mantiene el control y la titularidad de cada cuenta.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4480560" cy="45720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148840"/>
            <a:ext cx="4261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Servicio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2148840"/>
            <a:ext cx="3657600" cy="45720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8" y="2148840"/>
            <a:ext cx="34381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Modelo de cobro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2148840"/>
            <a:ext cx="3017520" cy="457200"/>
          </a:xfrm>
          <a:prstGeom prst="rect">
            <a:avLst/>
          </a:prstGeom>
          <a:solidFill>
            <a:srgbClr val="14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7" y="2148840"/>
            <a:ext cx="279806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Estimado mensual 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606040"/>
            <a:ext cx="42611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Licencia de Meta (WhatsApp Business)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Cuota mensual fija del 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2606040"/>
            <a:ext cx="34381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7" y="2606040"/>
            <a:ext cx="2798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14102B"/>
                </a:solidFill>
                <a:latin typeface="Calibri"/>
              </a:rPr>
              <a:t>€30/mes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154680"/>
            <a:ext cx="11155680" cy="54864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54680"/>
            <a:ext cx="42611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Conversaciones WhatsApp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Plantillas · por conversación iniciada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3154680"/>
            <a:ext cx="34381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Por conversación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7" y="3154680"/>
            <a:ext cx="2798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14102B"/>
                </a:solidFill>
                <a:latin typeface="Calibri"/>
              </a:rPr>
              <a:t>€18 – €55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03320"/>
            <a:ext cx="42611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Tokens de IA (modelo conversacional)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Agente que cualifica, responde y 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3703320"/>
            <a:ext cx="34381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Por volumen de mensajes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7" y="3703320"/>
            <a:ext cx="2798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14102B"/>
                </a:solidFill>
                <a:latin typeface="Calibri"/>
              </a:rPr>
              <a:t>€28 – €74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51960"/>
            <a:ext cx="11155680" cy="548640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251960"/>
            <a:ext cx="426110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Envío de correos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Recordatorios y seguimientos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4251960"/>
            <a:ext cx="34381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Por envío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7" y="4251960"/>
            <a:ext cx="2798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1">
                <a:solidFill>
                  <a:srgbClr val="14102B"/>
                </a:solidFill>
                <a:latin typeface="Calibri"/>
              </a:rPr>
              <a:t>€0 – €18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10328"/>
            <a:ext cx="11155680" cy="603504"/>
          </a:xfrm>
          <a:prstGeom prst="roundRect">
            <a:avLst/>
          </a:prstGeom>
          <a:solidFill>
            <a:srgbClr val="EE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965192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A3CE0"/>
                </a:solidFill>
                <a:latin typeface="Calibri"/>
              </a:rPr>
              <a:t>Estos consumos no los factura omnia.  </a:t>
            </a:r>
            <a:r>
              <a:rPr sz="1000" b="0">
                <a:solidFill>
                  <a:srgbClr val="64748B"/>
                </a:solidFill>
                <a:latin typeface="Calibri"/>
              </a:rPr>
              <a:t>Son pagos directos a los proveedores según el volumen real; en el discovery técnico afinamos las cifras según los canales que se activen.  *Cifras en € (IVA no incluido).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omnia  ·  Costes operativos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EC489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2286000" cy="10241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mn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758952"/>
            <a:ext cx="1659321" cy="603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EN RESUMEN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Un sistema que capta, atiende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y fideliza —  con una sola factura.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Ads (Google/Meta) + CRM en un solo sistema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En español de España, para odontología, estética y medicina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Templatizado y masivo: nuevo cliente en horas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omnia  ·  omniainbusiness.com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