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B8A6"/>
                </a:solidFill>
                <a:latin typeface="Calibri"/>
              </a:rPr>
              <a:t>GUÍA PARA EQUIPO Y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omnia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Sistema Ads + CRM para Clínicas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4B8A6"/>
                </a:solidFill>
                <a:latin typeface="Calibri"/>
              </a:rPr>
              <a:t>Odontología · Estética · Medicina estética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Convertimos anuncios en pacientes —  y pacientes en reseñas de 5★.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El paciente escribe… y se pierde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Lo que hoy le pasa a casi toda clínica que invierte en publicidad.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440679" cy="17373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5440679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Nadie contesta a tiempo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El lead escribe a las 22:00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Le responden al otro día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Ya agendó en otra clínica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19" y="2286000"/>
            <a:ext cx="5440679" cy="17373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19" y="2286000"/>
            <a:ext cx="5440679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799" y="2560320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Todo disperso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9" y="3200400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WhatsApp, Instagram, Facebook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Mensajes que se traspapelan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No se sabe de qué anuncio vino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97679"/>
            <a:ext cx="5440679" cy="17373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297679"/>
            <a:ext cx="5440679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71999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Agenda con huecos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212079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Citas sin recordatorio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Ausencias y cancelaciones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seguimiento al que no agendó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19" y="4297679"/>
            <a:ext cx="5440679" cy="17373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19" y="4297679"/>
            <a:ext cx="5440679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799" y="4571999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Reputación al azar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799" y="5212079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Pocas reseñas en Google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Las malas sí se publican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pedirlas de forma sistemática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El problema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No es una herramienta. Es un SISTEMA.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Anuncios que traen pacientes + un CRM que los atiende y fideliza —  todo conectado.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 · Captar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en Google/Meta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Atiende WhatsApp/IG/FB 24/7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2 · Convertir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IA reserva la cita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Mueve el pipeline solo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3 · Fidelizar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Recordatorios automáticos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Reseñas Google de 5★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2920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→ Ads + CRM en un solo sistema. Una sola factura, un solo responsable: </a:t>
            </a:r>
            <a:r>
              <a:rPr sz="1400" b="1">
                <a:solidFill>
                  <a:srgbClr val="14B8A6"/>
                </a:solidFill>
                <a:latin typeface="Calibri"/>
              </a:rPr>
              <a:t>omnia</a:t>
            </a:r>
            <a:r>
              <a:rPr sz="1400" b="1">
                <a:solidFill>
                  <a:srgbClr val="0B1F3A"/>
                </a:solidFill>
                <a:latin typeface="Calibri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La solución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El recorrido del paciente, en piloto automático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De un clic en el anuncio a una reseña de 5★ —  sin que nadie mueva un dedo.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3200"/>
            <a:ext cx="1706879" cy="15544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Anuncio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Google / Meta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1512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2679" y="2743200"/>
            <a:ext cx="1706879" cy="15544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411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Mensaje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WA/IG/FB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127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2439" y="2743200"/>
            <a:ext cx="1706879" cy="15544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387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Sofía (IA)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atiende y califica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103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199" y="2743200"/>
            <a:ext cx="1706879" cy="15544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3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Agenda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reserva la cita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079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1960" y="2743200"/>
            <a:ext cx="1706879" cy="15544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339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Recordatorios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24h antes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0552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51720" y="2743200"/>
            <a:ext cx="1706879" cy="15544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3160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Reseña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Google 5★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9377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B8A6"/>
                </a:solidFill>
                <a:latin typeface="Calibri"/>
              </a:rPr>
              <a:t>Resultado: el lead deja sus datos → la IA lo atiende → agenda solo → asiste → deja reseña → vuelve.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Cómo funciona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EL ASISTENTE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Sofía: la recepcionista que no duerme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Atiende cada mensaje al instante, en el tono de la clínica, y reserva citas sola.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Atiende 24/7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Responde en segundos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sueldo ni descansos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Mismo tono de la marca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Reserva citas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Ofrece día y hora libres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Agenda en el calendario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datos con RGPD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Sabe cuándo parar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Deriva a humano si hace falta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Comprobantes, dudas médicas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Nunca inventa precios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Asistente 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CAPTACIÓN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Todos los canales en una bandeja —  y sabés de dónde vino cada lead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68880"/>
            <a:ext cx="353568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468880"/>
            <a:ext cx="3535680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Multicanal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WhatsApp, Instagram, Facebook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Una conversación por paciente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Nada se traspapela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2468880"/>
            <a:ext cx="353568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2920" y="2468880"/>
            <a:ext cx="3535680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Atribución de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Guarda UTM y el anuncio (Ad)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Sabés qué campaña trae pacientes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Mides retorno por fuente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2920" y="2468880"/>
            <a:ext cx="353568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2920" y="2468880"/>
            <a:ext cx="3535680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Canal detectado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Etiqueta canal-wa/ig/fb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el teléfono solo si hace falta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Listo para remarketing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Captación multicanal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PIPELINE DE VENTAS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Ves en qué punto está cada paciente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Cada oportunidad avanza por etapas claras —  como una operación con fases.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6080"/>
            <a:ext cx="1436914" cy="1280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Nuevo Lead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1546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22714" y="2926080"/>
            <a:ext cx="1436914" cy="1280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4154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En conversación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1340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2508" y="2926080"/>
            <a:ext cx="1436914" cy="1280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3948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Pre-reserva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1134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62302" y="2926080"/>
            <a:ext cx="1436914" cy="1280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3742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Cita Reservada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0929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82097" y="2926080"/>
            <a:ext cx="1436914" cy="1280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73537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Cita Confirmada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0723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01891" y="2926080"/>
            <a:ext cx="1436914" cy="1280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3331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Servicio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20517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21685" y="2926080"/>
            <a:ext cx="1436914" cy="1280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3125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No reservó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5488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Los robots mueven al paciente de etapa automáticamente. Vos ves el tablero y sabés qué falta para cada cierre.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Pipeline de ventas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AUTOMATIZACIONES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9 robots que trabajan solos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Configurados y listos. Cada uno hace una tarea sin que nadie la recuerde.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3535680" cy="16916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Bienvenida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Activa a Sofía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Crea la oportunidad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286000"/>
            <a:ext cx="3535680" cy="16916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28600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Cita reservada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Confirma por WhatsApp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Mueve el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286000"/>
            <a:ext cx="3535680" cy="16916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28600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Recordatorio 24h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Reduce ausencias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Mensaje automático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51960"/>
            <a:ext cx="3535680" cy="16916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25196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Remarketing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Recupera al que no agendó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2 toques en 48h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2920" y="4251960"/>
            <a:ext cx="3535680" cy="16916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12920" y="425196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Señal / depósito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Valida el pago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Confirma la cita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2920" y="4251960"/>
            <a:ext cx="3535680" cy="16916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2920" y="425196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Reputación Google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reseña tras el servicio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Filtra 4-5★ → Google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Automatizaciones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REPUTACIÓN GOOGLE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Más reseñas de 5★ —  y las malas, en privado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El diferenciador: pide valoración tras cada servicio y filtra antes de Google.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39496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5394960" cy="12801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⭐ 4–5 estrellas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→ va directo a Google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Más reputación pública, más pacientes nuevos.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68880"/>
            <a:ext cx="5394960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468880"/>
            <a:ext cx="5394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⭐ 1–3 estrellas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→ formulario privado (NO a Google)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Recuperás al paciente y proteges la marca.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206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4B8A6"/>
                </a:solidFill>
                <a:latin typeface="Calibri"/>
              </a:rPr>
              <a:t>También reactiva tu base de datos antigua para traer pacientes que ya tenías.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Reputación Google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ADAPTABLE POR NICHO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El mismo sistema, ajustado a cada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Cambia el catálogo, el tono y si se pide señal. La estrategia es la misma.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468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3535680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Odontología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Limpieza, ortodoncia, blanqueamiento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cercano y claro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Señal: normalmente 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468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Estética / Belleza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Faciales, micropigmentación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cálido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Señal: habitual (sí)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468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468880"/>
            <a:ext cx="3535680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Medicina estética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Ácido, bótox, tratamientos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profesional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Dudas clínicas → a humano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Por nicho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INSTALACIÓN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Templatizado: solo cambian 3–4 cosas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El sistema completo ya está montado. Personalizar un cliente toma horas, no semanas.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468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Se personaliza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Logo y colores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Datos del negocio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Servicios y precios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¿Pide señal? sí/no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468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468880"/>
            <a:ext cx="3535680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Ya viene hecho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Bot, pipeline y etapas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Los 9 workflows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Reputación Google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Plantillas de mensajes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468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468880"/>
            <a:ext cx="3535680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Cómo se llena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Custom Values (1 vez)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Todo lo lee el sistema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Mismo snapshot para todos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Onboarding por formulario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Instalación templatizada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EL CAMBIO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Antes vs. Después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Lo que ve el dueño de la clínica cuando enciende el sistema.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394960" cy="31089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5394960" cy="12801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748B"/>
                </a:solidFill>
                <a:latin typeface="Calibri"/>
              </a:rPr>
              <a:t>ANTES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Leads que escriben y nadie contesta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Agenda con huecos y ausencias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Mensajes perdidos entre apps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Pocas reseñas, y las malas públicas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Sin saber qué anuncio funciona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68880"/>
            <a:ext cx="5394960" cy="31089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468880"/>
            <a:ext cx="5394960" cy="12801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74320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4B8A6"/>
                </a:solidFill>
                <a:latin typeface="Calibri"/>
              </a:rPr>
              <a:t>DESPUÉS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Cada lead atendido en segundos, 24/7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Agenda llena, con recordatorios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Todo en una bandeja, nada se pierde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Flujo constante de reseñas 5★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Retorno medible por campaña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Antes vs Después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PLANES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Cuatro niveles —  el anuncio trae, el sistema convierte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Cada plan = gestión de ads (Google/Meta) + el sistema CRM omnia completo.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2583179" cy="26060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2583179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Captación · 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22174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Ads: 250 €/mes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1 canal (Google o Meta)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Campañas de leads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Sistema omnia instalado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0420" y="2286000"/>
            <a:ext cx="2583179" cy="26060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0420" y="2286000"/>
            <a:ext cx="2583179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3300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Crecimiento ·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3300" y="3200400"/>
            <a:ext cx="22174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Ads: 450 €/mes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Más campañas / 2 canales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Analítica de leads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Sistema omnia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19" y="2286000"/>
            <a:ext cx="2583179" cy="26060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19" y="2286000"/>
            <a:ext cx="2583179" cy="1188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799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Pro · 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799" y="3200400"/>
            <a:ext cx="22174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Ads: 625 €/mes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Gestión avanzada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Redistribución de presupuesto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Sistema omnia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419" y="2286000"/>
            <a:ext cx="2583179" cy="26060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75419" y="2286000"/>
            <a:ext cx="2583179" cy="1188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8299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Escala ·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8299" y="3200400"/>
            <a:ext cx="22174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Ads: a medida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Multi-campaña / multi-sede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Reporting a medida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Sistema omnia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74920"/>
            <a:ext cx="11155680" cy="566928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92400E"/>
                </a:solidFill>
                <a:latin typeface="Calibri"/>
              </a:rPr>
              <a:t>Inversión en anuncios aparte (al medio): mínimo 300 €/campaña.   </a:t>
            </a:r>
            <a:r>
              <a:rPr sz="1150" b="0">
                <a:solidFill>
                  <a:srgbClr val="92400E"/>
                </a:solidFill>
                <a:latin typeface="Calibri"/>
              </a:rPr>
              <a:t>Precio al cliente y setup del sistema: a definir por omnia (ver slide interna).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Planes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MODELO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Cómo se arma y quién factura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Uso interno —  no mostrar al cliente.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3200"/>
            <a:ext cx="3596640" cy="16459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ómibu (Ads)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provee la gestión
de campañas (COSTO)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1272" y="2743200"/>
            <a:ext cx="219456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2439" y="2743200"/>
            <a:ext cx="3596640" cy="16459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3879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omnia (CRM)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añade el sistema
y FACTURA todo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0791" y="2743200"/>
            <a:ext cx="219456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4B8A6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1960" y="2743200"/>
            <a:ext cx="3596640" cy="16459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3399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B1F3A"/>
                </a:solidFill>
                <a:latin typeface="Calibri"/>
              </a:rPr>
              <a:t>Cliente / Clínica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paga 1 sola
factura a omnia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0F172A"/>
                </a:solidFill>
                <a:latin typeface="Calibri"/>
              </a:rPr>
              <a:t>omnia compra los ads a ómibu (tarifas del Excel = costo), le suma su producto propio —el sistema CRM (Sofía, pipeline, reputación)— y vende el paquete completo al cliente con una sola factura.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2400E"/>
                </a:solidFill>
                <a:latin typeface="Calibri"/>
              </a:rPr>
              <a:t>omnia  ·  USO INTERNO · Modelo de negocio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B8A6"/>
                </a:solidFill>
                <a:latin typeface="Calibri"/>
              </a:rPr>
              <a:t>COSTO Y MARGEN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Estructura por nivel (a completar)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Uso interno —  costos ómibu reales; precio al cliente y margen los define omnia.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86000"/>
            <a:ext cx="237744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2286000"/>
            <a:ext cx="22311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2286000"/>
            <a:ext cx="237744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3512" y="2286000"/>
            <a:ext cx="22311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Ads (costo ómibu)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2286000"/>
            <a:ext cx="237744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0952" y="2286000"/>
            <a:ext cx="22311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Sistema omnia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2286000"/>
            <a:ext cx="201168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8392" y="2286000"/>
            <a:ext cx="186537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Precio cliente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46920" y="2286000"/>
            <a:ext cx="201168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0072" y="2286000"/>
            <a:ext cx="186537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Margen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43200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743200"/>
            <a:ext cx="22311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Captación · 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0360" y="2743200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3512" y="2743200"/>
            <a:ext cx="22311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250 €/mes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57800" y="2743200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30952" y="2743200"/>
            <a:ext cx="22311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setup + 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5240" y="2743200"/>
            <a:ext cx="20116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08392" y="2743200"/>
            <a:ext cx="186537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46920" y="2743200"/>
            <a:ext cx="20116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2743200"/>
            <a:ext cx="186537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46120"/>
            <a:ext cx="23774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3246120"/>
            <a:ext cx="22311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Crecimiento ·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3246120"/>
            <a:ext cx="23774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53512" y="3246120"/>
            <a:ext cx="22311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450 €/mes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57800" y="3246120"/>
            <a:ext cx="23774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30952" y="3246120"/>
            <a:ext cx="22311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incluido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35240" y="3246120"/>
            <a:ext cx="201168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08392" y="3246120"/>
            <a:ext cx="186537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46920" y="3246120"/>
            <a:ext cx="201168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20072" y="3246120"/>
            <a:ext cx="186537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749039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3749039"/>
            <a:ext cx="22311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Pro · 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360" y="3749039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53512" y="3749039"/>
            <a:ext cx="22311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625 €/mes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57800" y="3749039"/>
            <a:ext cx="2377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30952" y="3749039"/>
            <a:ext cx="22311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incluido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35240" y="3749039"/>
            <a:ext cx="20116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08392" y="3749039"/>
            <a:ext cx="186537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46920" y="3749039"/>
            <a:ext cx="20116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20072" y="3749039"/>
            <a:ext cx="186537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251960"/>
            <a:ext cx="23774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" y="4251960"/>
            <a:ext cx="22311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Escala · 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0360" y="4251960"/>
            <a:ext cx="23774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3512" y="4251960"/>
            <a:ext cx="22311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a medida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4251960"/>
            <a:ext cx="23774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30952" y="4251960"/>
            <a:ext cx="22311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Calibri"/>
              </a:rPr>
              <a:t>incluido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635240" y="4251960"/>
            <a:ext cx="201168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08392" y="4251960"/>
            <a:ext cx="186537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20" y="4251960"/>
            <a:ext cx="201168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20072" y="4251960"/>
            <a:ext cx="186537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[definir]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02920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92400E"/>
                </a:solidFill>
                <a:latin typeface="Calibri"/>
              </a:rPr>
              <a:t>Para cerrar la tabla necesito de omnia: precio del SISTEMA (setup + mensual) y si los ads van a costo o con markup.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2400E"/>
                </a:solidFill>
                <a:latin typeface="Calibri"/>
              </a:rPr>
              <a:t>omnia  ·  USO INTERNO · Costo / margen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B8A6"/>
                </a:solidFill>
                <a:latin typeface="Calibri"/>
              </a:rPr>
              <a:t>EN RESUMEN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Un sistema que capta, atiende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y fideliza —  con una sola factura.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Ads (Google/Meta) + CRM en un solo sistema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En español, adaptable a odontología, estética y medicina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Templatizado: nuevo cliente en horas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B8A6"/>
                </a:solidFill>
                <a:latin typeface="Calibri"/>
              </a:rPr>
              <a:t>omnia  ·  [web / contacto]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