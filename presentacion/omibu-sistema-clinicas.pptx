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GUÍA PARA EQUIPO Y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omibu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Sistema de Captación, Atención y Reputación para Clínicas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4B8A6"/>
                </a:solidFill>
                <a:latin typeface="Calibri"/>
              </a:rPr>
              <a:t>Odontología · Estética · Medicina estética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Cómo convertimos anuncios en pacientes —  y pacientes en reseñas de 5★.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El paciente escribe… y se pierde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Lo que hoy le pasa a casi toda clínica que invierte en publicidad.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5440679" cy="17373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5440679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624327"/>
            <a:ext cx="50383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Nadie contesta a tiempo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91839"/>
            <a:ext cx="50383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El lead escribe a las 22:00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Le responden al otro día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Ya agendó en otra clínica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19" y="2331720"/>
            <a:ext cx="5440679" cy="17373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19" y="2331720"/>
            <a:ext cx="5440679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7" y="2624327"/>
            <a:ext cx="50383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Todo disperso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7" y="3291839"/>
            <a:ext cx="50383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WhatsApp, Instagram, Facebook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Mensajes que se traspapelan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No se sabe de qué anuncio vino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343400"/>
            <a:ext cx="5440679" cy="17373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343400"/>
            <a:ext cx="5440679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636008"/>
            <a:ext cx="50383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Agenda con huecos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5303520"/>
            <a:ext cx="50383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Citas sin recordatorio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Ausencias y cancelaciones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Sin seguimiento al que no agendó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19" y="4343400"/>
            <a:ext cx="5440679" cy="17373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19" y="4343400"/>
            <a:ext cx="5440679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7" y="4636008"/>
            <a:ext cx="50383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Reputación al azar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7" y="5303520"/>
            <a:ext cx="5038343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Pocas reseñas en Google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Las malas sí se publican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Sin pedirlas de forma sistemática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El problema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No es una herramienta. Es un SISTEMA.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El snapshot de omibu: todo preconfigurado y conectado, sobre GoHighLevel.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353568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Captar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429000"/>
            <a:ext cx="313334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Atiende WhatsApp/IG/FB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al instante, 24/7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2468880"/>
            <a:ext cx="353568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920" y="246888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Convertir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088" y="3429000"/>
            <a:ext cx="313334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IA reserva la cita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y mueve el pipeline solo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2920" y="2468880"/>
            <a:ext cx="3535680" cy="21945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2920" y="246888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Fidelizar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88" y="3429000"/>
            <a:ext cx="313334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Recordatorios + reseñas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Google automáticas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12064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→ Una sola cuenta, las piezas se hablan entre sí, un solo costo. Listo para instalar.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La solución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CÓMO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El recorrido del paciente, en piloto automático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De un clic en el anuncio a una reseña de 5★ —  sin que nadie mueva un dedo.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743200"/>
            <a:ext cx="1706879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889504"/>
            <a:ext cx="1487423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Anuncio / Redes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Meta Ads, IG, FB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1512" y="2743200"/>
            <a:ext cx="219456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92679" y="2743200"/>
            <a:ext cx="1706879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02407" y="2889504"/>
            <a:ext cx="1487423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Mensaje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WhatsApp/IG/FB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1271" y="2743200"/>
            <a:ext cx="219456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82439" y="2743200"/>
            <a:ext cx="1706879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2167" y="2889504"/>
            <a:ext cx="1487423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Sofía (IA)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atiende y califica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1" y="2743200"/>
            <a:ext cx="219456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199" y="2743200"/>
            <a:ext cx="1706879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7" y="2889504"/>
            <a:ext cx="1487423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Agenda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reserva la cita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0791" y="2743200"/>
            <a:ext cx="219456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1960" y="2743200"/>
            <a:ext cx="1706879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1687" y="2889504"/>
            <a:ext cx="1487423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Recordatorios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24h antes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50552" y="2743200"/>
            <a:ext cx="219456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51720" y="2743200"/>
            <a:ext cx="1706879" cy="15544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61447" y="2889504"/>
            <a:ext cx="1487423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Reseña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>Google tras el servicio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93776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Resultado: el lead deja sus datos → la IA lo atiende → agenda solo → asiste → deja reseña → vuelve.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Cómo funciona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EL ASISTENTE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Sofía: tu recepcionista que no duerme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Atiende cada mensaje al instante, en el tono de la clínica, y reserva citas sola.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3535680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Atiende 24/7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429000"/>
            <a:ext cx="31333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Responde en segundos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Sin sueldo ni descansos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Mismo tono de la marca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2468880"/>
            <a:ext cx="3535680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920" y="246888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Reserva citas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088" y="3429000"/>
            <a:ext cx="31333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Ofrece día y hora libres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Agenda en el calendario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Pide datos con consentimiento RGPD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2920" y="2468880"/>
            <a:ext cx="3535680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2920" y="246888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Sabe cuándo parar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88" y="3429000"/>
            <a:ext cx="31333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Deriva a humano si hace falta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Comprobantes, dudas médicas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Nunca inventa precios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Asistente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CAPTACIÓN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Todos los canales en una bandeja —  y sabés de dónde vino cada lead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468880"/>
            <a:ext cx="3535680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468880"/>
            <a:ext cx="353568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Multicanal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3429000"/>
            <a:ext cx="31333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WhatsApp, Instagram, Facebook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Una sola conversación por paciente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Nada se traspapela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2920" y="2468880"/>
            <a:ext cx="3535680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2920" y="2468880"/>
            <a:ext cx="353568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1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Atribución de anuncios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14088" y="3429000"/>
            <a:ext cx="31333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Guarda UTM y el anuncio (Ad)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Sabés qué campaña trae pacientes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Mides retorno real por fuente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2920" y="2468880"/>
            <a:ext cx="3535680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22920" y="2468880"/>
            <a:ext cx="353568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Canal detectado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4088" y="3429000"/>
            <a:ext cx="31333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Etiqueta canal-whatsapp/ig/fb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La IA pide el teléfono solo si hace falta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Listo para remarketing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Captación multicanal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PIPELINE DE VENTAS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Ves en qué punto está cada paciente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Cada oportunidad avanza por etapas claras —  como una operación con fases.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26080"/>
            <a:ext cx="1436914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3072384"/>
            <a:ext cx="1217458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Nuevo Lead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1546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22714" y="2926080"/>
            <a:ext cx="1436914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32442" y="3072384"/>
            <a:ext cx="1217458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En conversación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1340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2508" y="2926080"/>
            <a:ext cx="1436914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52236" y="3072384"/>
            <a:ext cx="1217458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Pre-reserva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1134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62302" y="2926080"/>
            <a:ext cx="1436914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72030" y="3072384"/>
            <a:ext cx="1217458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Cita Reservada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0929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82097" y="2926080"/>
            <a:ext cx="1436914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91825" y="3072384"/>
            <a:ext cx="1217458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Cita Confirmada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00723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01891" y="2926080"/>
            <a:ext cx="1436914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11619" y="3072384"/>
            <a:ext cx="1217458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Servicio Realizado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20517" y="2926080"/>
            <a:ext cx="219456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4B8A6"/>
                </a:solidFill>
                <a:latin typeface="Calibri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21685" y="2926080"/>
            <a:ext cx="1436914" cy="12801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1413" y="3072384"/>
            <a:ext cx="1217458" cy="10058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No reservó</a:t>
            </a:r>
          </a:p>
          <a:p>
            <a:pPr algn="ctr">
              <a:spcAft>
                <a:spcPts val="400"/>
              </a:spcAft>
            </a:pPr>
            <a:r>
              <a:rPr sz="1050" b="0">
                <a:solidFill>
                  <a:srgbClr val="64748B"/>
                </a:solidFill>
                <a:latin typeface="Calibr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54880"/>
            <a:ext cx="111556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64748B"/>
                </a:solidFill>
                <a:latin typeface="Calibri"/>
              </a:rPr>
              <a:t>Los robots mueven al paciente de etapa automáticamente. Vos ves el tablero y sabés exactamente qué falta para cada cierre.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Pipeline de ventas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AUTOMATIZACIONES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 robots que trabajan solos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Configurados y listos. Cada uno hace una tarea sin que nadie la recuerde.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3535680" cy="1691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33172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624327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Bienvenida + 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291839"/>
            <a:ext cx="31333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Activa a Sofía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Crea la oportunidad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2331720"/>
            <a:ext cx="3535680" cy="1691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920" y="233172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088" y="2624327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Cita reservada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088" y="3291839"/>
            <a:ext cx="31333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Confirma por WhatsApp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Mueve el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2920" y="2331720"/>
            <a:ext cx="3535680" cy="1691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2920" y="233172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4088" y="2624327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Recordatorio 24h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88" y="3291839"/>
            <a:ext cx="31333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Reduce ausencias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Mensaje automático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297679"/>
            <a:ext cx="3535680" cy="1691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297679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45902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Remarketing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5257799"/>
            <a:ext cx="31333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Recupera al que no agendó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2 toques en 48h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2920" y="4297679"/>
            <a:ext cx="3535680" cy="1691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2920" y="4297679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4088" y="45902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Señal / depósito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4088" y="5257799"/>
            <a:ext cx="31333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Valida el pago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Confirma la cita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2920" y="4297679"/>
            <a:ext cx="3535680" cy="16916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2920" y="4297679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4088" y="45902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Reputación Google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4088" y="5257799"/>
            <a:ext cx="3133344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Pide reseña tras el servicio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Filtra 4-5★ → Google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Automatizaciones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REPUTACIÓN GOOGLE (RBD)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Más reseñas de 5★ —  y las malas, en privado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El diferenciador: pide valoración tras cada servicio y filtra antes de Google.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5394960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539496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4937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⭐ 4–5 estrellas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→ va directo a dejar la reseña en Google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Más reputación pública, más pacientes nuevos.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5394960" cy="237744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468880"/>
            <a:ext cx="539496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743200"/>
            <a:ext cx="49377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⭐ 1–3 estrellas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→ va a un formulario privado (no a Google)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Recuperás al paciente y proteges la reputación.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20640"/>
            <a:ext cx="11155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También reactiva tu base de datos antigua para traer pacientes que ya tenías.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Reputación 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ADAPTABLE POR NICHO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El mismo sistema, ajustado a cada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Cambia el catálogo, el tono y si se pide señal. La estrategia es la misma.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353568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353568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Odontología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429000"/>
            <a:ext cx="31333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Limpieza, ortodoncia, blanqueamiento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Tono cercano y claro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Señal: normalmente 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2468880"/>
            <a:ext cx="353568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920" y="246888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Estética / Belleza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088" y="3429000"/>
            <a:ext cx="31333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Faciales, micropigmentación, depilación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Tono cálido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Señal: habitual (sí)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2920" y="2468880"/>
            <a:ext cx="353568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2920" y="2468880"/>
            <a:ext cx="353568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Medicina estética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88" y="3429000"/>
            <a:ext cx="31333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Ácido, bótox, tratamientos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Tono profesional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Dudas clínicas → a humano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Por nicho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INSTALACIÓN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Templatizado: solo cambian 3–4 cosas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El sistema completo ya está montado. Personalizar un cliente toma horas, no semanas.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353568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Se personaliza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3429000"/>
            <a:ext cx="31333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Logo y colores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Datos del negocio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Servicios y precios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¿Pide señal? sí/no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12920" y="2468880"/>
            <a:ext cx="353568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2920" y="2468880"/>
            <a:ext cx="353568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Ya viene hecho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4088" y="3429000"/>
            <a:ext cx="31333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Bot, pipeline y etapas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Los 9 workflows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Reputación Google (RBD)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Plantillas de mensajes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2920" y="2468880"/>
            <a:ext cx="3535680" cy="246888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2920" y="246888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4088" y="276148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Cómo se llena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4088" y="3429000"/>
            <a:ext cx="3133344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Custom Values (1 sola vez)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Todo lo lee el sistema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Mismo snapshot para todos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Onboarding por formulario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Instalación templatizada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EL CAMBIO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Antes vs. Después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Lo que ve el dueño de la clínica cuando enciende el sistema.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8880"/>
            <a:ext cx="5394960" cy="3108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2468880"/>
            <a:ext cx="5394960" cy="128016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64748B"/>
                </a:solidFill>
                <a:latin typeface="Calibri"/>
              </a:rPr>
              <a:t>ANTES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—  Leads que escriben y nadie contesta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—  Agenda con huecos y ausencias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—  Mensajes perdidos entre apps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—  Pocas reseñas, y las malas públicas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—  Sin saber qué anuncio funciona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468880"/>
            <a:ext cx="5394960" cy="310896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2468880"/>
            <a:ext cx="539496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743200"/>
            <a:ext cx="493776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4B8A6"/>
                </a:solidFill>
                <a:latin typeface="Calibri"/>
              </a:rPr>
              <a:t>DESPUÉS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✓  Cada lead atendido en segundos, 24/7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✓  Agenda llena, con recordatorios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✓  Todo en una bandeja, nada se pierde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✓  Flujo constante de reseñas 5★</a:t>
            </a:r>
          </a:p>
          <a:p>
            <a:pPr algn="l">
              <a:spcAft>
                <a:spcPts val="800"/>
              </a:spcAft>
            </a:pPr>
            <a:r>
              <a:rPr sz="1250" b="0">
                <a:solidFill>
                  <a:srgbClr val="0F172A"/>
                </a:solidFill>
                <a:latin typeface="Calibri"/>
              </a:rPr>
              <a:t>✓  Retorno medible por campaña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Antes vs Después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548640"/>
            <a:ext cx="292608" cy="292608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14B8A6"/>
                </a:solidFill>
                <a:latin typeface="Calibri"/>
              </a:rPr>
              <a:t>PLANES OMIBU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Cada plan de ads, enchufado al sistema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64748B"/>
                </a:solidFill>
                <a:latin typeface="Calibri"/>
              </a:rPr>
              <a:t>El anuncio trae el lead; el sistema lo convierte y lo fideliza. Juntos = resultado.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11155680" cy="914400"/>
          </a:xfrm>
          <a:prstGeom prst="round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92400E"/>
                </a:solidFill>
                <a:latin typeface="Calibri"/>
              </a:rPr>
              <a:t>⚠️  PENDIENTE: insertar precios/planes de ads de omibu (Excel/PDF). </a:t>
            </a:r>
            <a:r>
              <a:rPr sz="1300" b="0">
                <a:solidFill>
                  <a:srgbClr val="92400E"/>
                </a:solidFill>
                <a:latin typeface="Calibri"/>
              </a:rPr>
              <a:t>Mandámelo y completo esta sección con los planes reales.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520440"/>
            <a:ext cx="35356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520440"/>
            <a:ext cx="353568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" y="381304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Plan [Inicial]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4480560"/>
            <a:ext cx="313334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Inversión ads: $___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Setup snapshot incluido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Ideal: 1 nicho / 1 sede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2920" y="3520440"/>
            <a:ext cx="35356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12920" y="3520440"/>
            <a:ext cx="3535680" cy="12801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4088" y="381304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Plan [Crecimiento]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4088" y="4480560"/>
            <a:ext cx="313334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Inversión ads: $___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Snapshot + optimización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Más campañas / canales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2920" y="3520440"/>
            <a:ext cx="3535680" cy="228600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2920" y="3520440"/>
            <a:ext cx="3535680" cy="1280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4088" y="3813048"/>
            <a:ext cx="31333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Plan [Escala]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4088" y="4480560"/>
            <a:ext cx="313334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Inversión ads: $___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Snapshot + gestión integral</a:t>
            </a:r>
          </a:p>
          <a:p>
            <a:pPr algn="l">
              <a:spcAft>
                <a:spcPts val="600"/>
              </a:spcAft>
            </a:pPr>
            <a:r>
              <a:rPr sz="1150" b="0">
                <a:solidFill>
                  <a:srgbClr val="0F172A"/>
                </a:solidFill>
                <a:latin typeface="Calibri"/>
              </a:rPr>
              <a:t>•  Multi-sede / multi-nicho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27648"/>
            <a:ext cx="11155680" cy="10972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364224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omibu  ·  Planes + sistema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0" y="6364224"/>
            <a:ext cx="16276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EN 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Un sistema probado que capta,</a:t>
            </a:r>
          </a:p>
          <a:p>
            <a:pPr algn="l"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atiende y fideliza —  solo.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✓  Instalado y operativo sobre GoHighLevel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✓  En español, adaptable a odontología, estética y medicina</a:t>
            </a:r>
          </a:p>
          <a:p>
            <a:pPr algn="l"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✓  Templatizado: nuevo cliente en horas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B8A6"/>
                </a:solidFill>
                <a:latin typeface="Calibri"/>
              </a:rPr>
              <a:t>omibu  ·  info@omibu.com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